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0" r:id="rId14"/>
    <p:sldId id="274" r:id="rId15"/>
    <p:sldId id="272" r:id="rId16"/>
    <p:sldId id="273"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4" d="100"/>
          <a:sy n="64" d="100"/>
        </p:scale>
        <p:origin x="97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GB"/>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EA72282E-462E-45B2-82C1-52E7C6160747}"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291741-1B92-4870-A2F5-E516BF943254}" type="slidenum">
              <a:rPr lang="en-US" smtClean="0"/>
              <a:t>‹#›</a:t>
            </a:fld>
            <a:endParaRPr lang="en-US"/>
          </a:p>
        </p:txBody>
      </p:sp>
    </p:spTree>
    <p:extLst>
      <p:ext uri="{BB962C8B-B14F-4D97-AF65-F5344CB8AC3E}">
        <p14:creationId xmlns:p14="http://schemas.microsoft.com/office/powerpoint/2010/main" val="28879686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EA72282E-462E-45B2-82C1-52E7C6160747}"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291741-1B92-4870-A2F5-E516BF943254}" type="slidenum">
              <a:rPr lang="en-US" smtClean="0"/>
              <a:t>‹#›</a:t>
            </a:fld>
            <a:endParaRPr lang="en-US"/>
          </a:p>
        </p:txBody>
      </p:sp>
    </p:spTree>
    <p:extLst>
      <p:ext uri="{BB962C8B-B14F-4D97-AF65-F5344CB8AC3E}">
        <p14:creationId xmlns:p14="http://schemas.microsoft.com/office/powerpoint/2010/main" val="20004200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GB"/>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EA72282E-462E-45B2-82C1-52E7C6160747}"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291741-1B92-4870-A2F5-E516BF943254}" type="slidenum">
              <a:rPr lang="en-US" smtClean="0"/>
              <a:t>‹#›</a:t>
            </a:fld>
            <a:endParaRPr lang="en-US"/>
          </a:p>
        </p:txBody>
      </p:sp>
    </p:spTree>
    <p:extLst>
      <p:ext uri="{BB962C8B-B14F-4D97-AF65-F5344CB8AC3E}">
        <p14:creationId xmlns:p14="http://schemas.microsoft.com/office/powerpoint/2010/main" val="42492930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EA72282E-462E-45B2-82C1-52E7C6160747}" type="datetimeFigureOut">
              <a:rPr lang="en-US" smtClean="0"/>
              <a:t>9/8/2026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8291741-1B92-4870-A2F5-E516BF943254}" type="slidenum">
              <a:rPr lang="en-US" smtClean="0"/>
              <a:t>‹#›</a:t>
            </a:fld>
            <a:endParaRPr lang="en-US"/>
          </a:p>
        </p:txBody>
      </p:sp>
    </p:spTree>
    <p:extLst>
      <p:ext uri="{BB962C8B-B14F-4D97-AF65-F5344CB8AC3E}">
        <p14:creationId xmlns:p14="http://schemas.microsoft.com/office/powerpoint/2010/main" val="2907857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EA72282E-462E-45B2-82C1-52E7C6160747}" type="datetimeFigureOut">
              <a:rPr lang="en-US" smtClean="0"/>
              <a:t>9/8/2026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8291741-1B92-4870-A2F5-E516BF943254}" type="slidenum">
              <a:rPr lang="en-US" smtClean="0"/>
              <a:t>‹#›</a:t>
            </a:fld>
            <a:endParaRPr lang="en-US"/>
          </a:p>
        </p:txBody>
      </p:sp>
    </p:spTree>
    <p:extLst>
      <p:ext uri="{BB962C8B-B14F-4D97-AF65-F5344CB8AC3E}">
        <p14:creationId xmlns:p14="http://schemas.microsoft.com/office/powerpoint/2010/main" val="36861207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EA72282E-462E-45B2-82C1-52E7C6160747}" type="datetimeFigureOut">
              <a:rPr lang="en-US" smtClean="0"/>
              <a:t>9/8/2026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8291741-1B92-4870-A2F5-E516BF943254}" type="slidenum">
              <a:rPr lang="en-US" smtClean="0"/>
              <a:t>‹#›</a:t>
            </a:fld>
            <a:endParaRPr lang="en-US"/>
          </a:p>
        </p:txBody>
      </p:sp>
    </p:spTree>
    <p:extLst>
      <p:ext uri="{BB962C8B-B14F-4D97-AF65-F5344CB8AC3E}">
        <p14:creationId xmlns:p14="http://schemas.microsoft.com/office/powerpoint/2010/main" val="30491435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A72282E-462E-45B2-82C1-52E7C6160747}" type="datetimeFigureOut">
              <a:rPr lang="en-US" smtClean="0"/>
              <a:t>9/8/2026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8291741-1B92-4870-A2F5-E516BF943254}" type="slidenum">
              <a:rPr lang="en-US" smtClean="0"/>
              <a:t>‹#›</a:t>
            </a:fld>
            <a:endParaRPr lang="en-US"/>
          </a:p>
        </p:txBody>
      </p:sp>
    </p:spTree>
    <p:extLst>
      <p:ext uri="{BB962C8B-B14F-4D97-AF65-F5344CB8AC3E}">
        <p14:creationId xmlns:p14="http://schemas.microsoft.com/office/powerpoint/2010/main" val="24441766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GB"/>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EA72282E-462E-45B2-82C1-52E7C6160747}" type="datetimeFigureOut">
              <a:rPr lang="en-US" smtClean="0"/>
              <a:t>9/8/2026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8291741-1B92-4870-A2F5-E516BF943254}" type="slidenum">
              <a:rPr lang="en-US" smtClean="0"/>
              <a:t>‹#›</a:t>
            </a:fld>
            <a:endParaRPr lang="en-US"/>
          </a:p>
        </p:txBody>
      </p:sp>
    </p:spTree>
    <p:extLst>
      <p:ext uri="{BB962C8B-B14F-4D97-AF65-F5344CB8AC3E}">
        <p14:creationId xmlns:p14="http://schemas.microsoft.com/office/powerpoint/2010/main" val="26617773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EA72282E-462E-45B2-82C1-52E7C6160747}" type="datetimeFigureOut">
              <a:rPr lang="en-US" smtClean="0"/>
              <a:t>9/8/2026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8291741-1B92-4870-A2F5-E516BF943254}" type="slidenum">
              <a:rPr lang="en-US" smtClean="0"/>
              <a:t>‹#›</a:t>
            </a:fld>
            <a:endParaRPr lang="en-US"/>
          </a:p>
        </p:txBody>
      </p:sp>
    </p:spTree>
    <p:extLst>
      <p:ext uri="{BB962C8B-B14F-4D97-AF65-F5344CB8AC3E}">
        <p14:creationId xmlns:p14="http://schemas.microsoft.com/office/powerpoint/2010/main" val="37821409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GB"/>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EA72282E-462E-45B2-82C1-52E7C6160747}"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291741-1B92-4870-A2F5-E516BF943254}" type="slidenum">
              <a:rPr lang="en-US" smtClean="0"/>
              <a:t>‹#›</a:t>
            </a:fld>
            <a:endParaRPr lang="en-US"/>
          </a:p>
        </p:txBody>
      </p:sp>
    </p:spTree>
    <p:extLst>
      <p:ext uri="{BB962C8B-B14F-4D97-AF65-F5344CB8AC3E}">
        <p14:creationId xmlns:p14="http://schemas.microsoft.com/office/powerpoint/2010/main" val="22193872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GB"/>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EA72282E-462E-45B2-82C1-52E7C6160747}"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291741-1B92-4870-A2F5-E516BF943254}"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8266930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GB"/>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EA72282E-462E-45B2-82C1-52E7C6160747}"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291741-1B92-4870-A2F5-E516BF943254}" type="slidenum">
              <a:rPr lang="en-US" smtClean="0"/>
              <a:t>‹#›</a:t>
            </a:fld>
            <a:endParaRPr lang="en-US"/>
          </a:p>
        </p:txBody>
      </p:sp>
    </p:spTree>
    <p:extLst>
      <p:ext uri="{BB962C8B-B14F-4D97-AF65-F5344CB8AC3E}">
        <p14:creationId xmlns:p14="http://schemas.microsoft.com/office/powerpoint/2010/main" val="29771737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GB"/>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EA72282E-462E-45B2-82C1-52E7C6160747}"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291741-1B92-4870-A2F5-E516BF943254}"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8957927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GB"/>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EA72282E-462E-45B2-82C1-52E7C6160747}"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291741-1B92-4870-A2F5-E516BF943254}" type="slidenum">
              <a:rPr lang="en-US" smtClean="0"/>
              <a:t>‹#›</a:t>
            </a:fld>
            <a:endParaRPr lang="en-US"/>
          </a:p>
        </p:txBody>
      </p:sp>
    </p:spTree>
    <p:extLst>
      <p:ext uri="{BB962C8B-B14F-4D97-AF65-F5344CB8AC3E}">
        <p14:creationId xmlns:p14="http://schemas.microsoft.com/office/powerpoint/2010/main" val="33950917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EA72282E-462E-45B2-82C1-52E7C6160747}"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291741-1B92-4870-A2F5-E516BF943254}" type="slidenum">
              <a:rPr lang="en-US" smtClean="0"/>
              <a:t>‹#›</a:t>
            </a:fld>
            <a:endParaRPr lang="en-US"/>
          </a:p>
        </p:txBody>
      </p:sp>
    </p:spTree>
    <p:extLst>
      <p:ext uri="{BB962C8B-B14F-4D97-AF65-F5344CB8AC3E}">
        <p14:creationId xmlns:p14="http://schemas.microsoft.com/office/powerpoint/2010/main" val="100070432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GB"/>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EA72282E-462E-45B2-82C1-52E7C6160747}"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291741-1B92-4870-A2F5-E516BF943254}" type="slidenum">
              <a:rPr lang="en-US" smtClean="0"/>
              <a:t>‹#›</a:t>
            </a:fld>
            <a:endParaRPr lang="en-US"/>
          </a:p>
        </p:txBody>
      </p:sp>
    </p:spTree>
    <p:extLst>
      <p:ext uri="{BB962C8B-B14F-4D97-AF65-F5344CB8AC3E}">
        <p14:creationId xmlns:p14="http://schemas.microsoft.com/office/powerpoint/2010/main" val="12237835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GB"/>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A72282E-462E-45B2-82C1-52E7C6160747}" type="datetimeFigureOut">
              <a:rPr lang="en-US" smtClean="0"/>
              <a:t>9/8/2026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E8291741-1B92-4870-A2F5-E516BF943254}" type="slidenum">
              <a:rPr lang="en-US" smtClean="0"/>
              <a:t>‹#›</a:t>
            </a:fld>
            <a:endParaRPr lang="en-US"/>
          </a:p>
        </p:txBody>
      </p:sp>
    </p:spTree>
    <p:extLst>
      <p:ext uri="{BB962C8B-B14F-4D97-AF65-F5344CB8AC3E}">
        <p14:creationId xmlns:p14="http://schemas.microsoft.com/office/powerpoint/2010/main" val="2808281162"/>
      </p:ext>
    </p:extLst>
  </p:cSld>
  <p:clrMap bg1="dk1" tx1="lt1" bg2="dk2" tx2="lt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A1B00E-5F1D-BBF3-381A-6FD6FFB2C2A3}"/>
              </a:ext>
            </a:extLst>
          </p:cNvPr>
          <p:cNvSpPr>
            <a:spLocks noGrp="1"/>
          </p:cNvSpPr>
          <p:nvPr>
            <p:ph type="ctrTitle"/>
          </p:nvPr>
        </p:nvSpPr>
        <p:spPr>
          <a:xfrm>
            <a:off x="1507067" y="1420837"/>
            <a:ext cx="7766936" cy="1223889"/>
          </a:xfrm>
        </p:spPr>
        <p:txBody>
          <a:bodyPr/>
          <a:lstStyle/>
          <a:p>
            <a:r>
              <a:rPr lang="en-GB" dirty="0"/>
              <a:t>Project Title -</a:t>
            </a:r>
            <a:endParaRPr lang="en-US" dirty="0"/>
          </a:p>
        </p:txBody>
      </p:sp>
      <p:sp>
        <p:nvSpPr>
          <p:cNvPr id="3" name="Subtitle 2">
            <a:extLst>
              <a:ext uri="{FF2B5EF4-FFF2-40B4-BE49-F238E27FC236}">
                <a16:creationId xmlns:a16="http://schemas.microsoft.com/office/drawing/2014/main" id="{AFBDFA2C-B3B8-76A8-CB25-AFFE112232F7}"/>
              </a:ext>
            </a:extLst>
          </p:cNvPr>
          <p:cNvSpPr>
            <a:spLocks noGrp="1"/>
          </p:cNvSpPr>
          <p:nvPr>
            <p:ph type="subTitle" idx="1"/>
          </p:nvPr>
        </p:nvSpPr>
        <p:spPr/>
        <p:txBody>
          <a:bodyPr>
            <a:normAutofit lnSpcReduction="10000"/>
          </a:bodyPr>
          <a:lstStyle/>
          <a:p>
            <a:pPr algn="l"/>
            <a:r>
              <a:rPr lang="en-US" dirty="0">
                <a:solidFill>
                  <a:schemeClr val="tx1"/>
                </a:solidFill>
              </a:rPr>
              <a:t>Student Name Yashika Upadhyay</a:t>
            </a:r>
            <a:endParaRPr lang="en-IN" dirty="0">
              <a:solidFill>
                <a:schemeClr val="tx1"/>
              </a:solidFill>
            </a:endParaRPr>
          </a:p>
          <a:p>
            <a:pPr algn="l"/>
            <a:r>
              <a:rPr lang="en-US" dirty="0">
                <a:solidFill>
                  <a:schemeClr val="tx1"/>
                </a:solidFill>
              </a:rPr>
              <a:t>College Name-Maharishi University of information technology</a:t>
            </a:r>
          </a:p>
          <a:p>
            <a:pPr algn="l"/>
            <a:r>
              <a:rPr lang="en-US" b="1" dirty="0"/>
              <a:t>AICTE STU ID </a:t>
            </a:r>
            <a:r>
              <a:rPr lang="en-US" dirty="0">
                <a:solidFill>
                  <a:schemeClr val="tx1"/>
                </a:solidFill>
              </a:rPr>
              <a:t> -STU6a6ba429d7c231785439273</a:t>
            </a:r>
            <a:endParaRPr lang="en-US" dirty="0"/>
          </a:p>
        </p:txBody>
      </p:sp>
    </p:spTree>
    <p:extLst>
      <p:ext uri="{BB962C8B-B14F-4D97-AF65-F5344CB8AC3E}">
        <p14:creationId xmlns:p14="http://schemas.microsoft.com/office/powerpoint/2010/main" val="39704991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605B8E-BCC0-E631-97F8-CA9816D56C0C}"/>
              </a:ext>
            </a:extLst>
          </p:cNvPr>
          <p:cNvSpPr>
            <a:spLocks noGrp="1"/>
          </p:cNvSpPr>
          <p:nvPr>
            <p:ph type="title"/>
          </p:nvPr>
        </p:nvSpPr>
        <p:spPr/>
        <p:txBody>
          <a:bodyPr/>
          <a:lstStyle/>
          <a:p>
            <a:r>
              <a:rPr lang="en-US" dirty="0"/>
              <a:t>PROBLEM  STATEMENT</a:t>
            </a:r>
          </a:p>
        </p:txBody>
      </p:sp>
      <p:sp>
        <p:nvSpPr>
          <p:cNvPr id="3" name="Content Placeholder 2">
            <a:extLst>
              <a:ext uri="{FF2B5EF4-FFF2-40B4-BE49-F238E27FC236}">
                <a16:creationId xmlns:a16="http://schemas.microsoft.com/office/drawing/2014/main" id="{FC1BDC18-14CD-D69B-2BB9-A4924175C65C}"/>
              </a:ext>
            </a:extLst>
          </p:cNvPr>
          <p:cNvSpPr>
            <a:spLocks noGrp="1"/>
          </p:cNvSpPr>
          <p:nvPr>
            <p:ph idx="1"/>
          </p:nvPr>
        </p:nvSpPr>
        <p:spPr/>
        <p:txBody>
          <a:bodyPr/>
          <a:lstStyle/>
          <a:p>
            <a:r>
              <a:rPr lang="en-IN" dirty="0"/>
              <a:t>(</a:t>
            </a:r>
            <a:r>
              <a:rPr lang="en-US"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dirty="0"/>
          </a:p>
          <a:p>
            <a:endParaRPr lang="en-US" dirty="0"/>
          </a:p>
        </p:txBody>
      </p:sp>
    </p:spTree>
    <p:extLst>
      <p:ext uri="{BB962C8B-B14F-4D97-AF65-F5344CB8AC3E}">
        <p14:creationId xmlns:p14="http://schemas.microsoft.com/office/powerpoint/2010/main" val="30767426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6295B6-2FE8-0FF6-CECB-98744E593D2E}"/>
              </a:ext>
            </a:extLst>
          </p:cNvPr>
          <p:cNvSpPr>
            <a:spLocks noGrp="1"/>
          </p:cNvSpPr>
          <p:nvPr>
            <p:ph type="title"/>
          </p:nvPr>
        </p:nvSpPr>
        <p:spPr/>
        <p:txBody>
          <a:bodyPr/>
          <a:lstStyle/>
          <a:p>
            <a:r>
              <a:rPr lang="en-GB" dirty="0"/>
              <a:t>Project Description</a:t>
            </a:r>
            <a:endParaRPr lang="en-US" dirty="0"/>
          </a:p>
        </p:txBody>
      </p:sp>
      <p:sp>
        <p:nvSpPr>
          <p:cNvPr id="3" name="Content Placeholder 2">
            <a:extLst>
              <a:ext uri="{FF2B5EF4-FFF2-40B4-BE49-F238E27FC236}">
                <a16:creationId xmlns:a16="http://schemas.microsoft.com/office/drawing/2014/main" id="{38EDEFA1-5BBF-2FC8-DB68-624516F784BF}"/>
              </a:ext>
            </a:extLst>
          </p:cNvPr>
          <p:cNvSpPr>
            <a:spLocks noGrp="1"/>
          </p:cNvSpPr>
          <p:nvPr>
            <p:ph idx="1"/>
          </p:nvPr>
        </p:nvSpPr>
        <p:spPr/>
        <p:txBody>
          <a:bodyPr/>
          <a:lstStyle/>
          <a:p>
            <a:r>
              <a:rPr lang="en-US" b="1" dirty="0"/>
              <a:t>Seasonal Agriculture Performance Analysis</a:t>
            </a:r>
            <a:r>
              <a:rPr lang="en-US" dirty="0"/>
              <a:t> is a data-driven project that analyzes agricultural performance across different seasons, crops, geographical areas, environmental conditions, resource usage, irrigation methods, and economic factors.</a:t>
            </a:r>
          </a:p>
          <a:p>
            <a:r>
              <a:rPr lang="en-US" dirty="0"/>
              <a:t>The project uses </a:t>
            </a:r>
            <a:r>
              <a:rPr lang="en-US" b="1" dirty="0"/>
              <a:t>Python, Pandas, NumPy, Matplotlib, Seaborn, and SciPy</a:t>
            </a:r>
            <a:r>
              <a:rPr lang="en-US" dirty="0"/>
              <a:t> to clean and analyze the agricultural dataset. The analysis compares seasonal yield, production, water efficiency, disease/pest risk, and profitability. Correlation analysis and the </a:t>
            </a:r>
            <a:r>
              <a:rPr lang="en-US" b="1" dirty="0"/>
              <a:t>Kruskal-Wallis statistical test</a:t>
            </a:r>
            <a:r>
              <a:rPr lang="en-US" dirty="0"/>
              <a:t> are also used to identify meaningful relationships and differences.</a:t>
            </a:r>
          </a:p>
          <a:p>
            <a:r>
              <a:rPr lang="en-US" dirty="0"/>
              <a:t>The objective is to transform raw agricultural data into clear </a:t>
            </a:r>
            <a:r>
              <a:rPr lang="en-US" b="1" dirty="0"/>
              <a:t>visual insights and data-driven findings</a:t>
            </a:r>
            <a:r>
              <a:rPr lang="en-US" dirty="0"/>
              <a:t> that can support better understanding of seasonal agricultural performance and planning.</a:t>
            </a:r>
          </a:p>
          <a:p>
            <a:endParaRPr lang="en-US" dirty="0"/>
          </a:p>
        </p:txBody>
      </p:sp>
    </p:spTree>
    <p:extLst>
      <p:ext uri="{BB962C8B-B14F-4D97-AF65-F5344CB8AC3E}">
        <p14:creationId xmlns:p14="http://schemas.microsoft.com/office/powerpoint/2010/main" val="29647372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907F91-3CD5-196B-578C-61E6E844ED51}"/>
              </a:ext>
            </a:extLst>
          </p:cNvPr>
          <p:cNvSpPr>
            <a:spLocks noGrp="1"/>
          </p:cNvSpPr>
          <p:nvPr>
            <p:ph type="title"/>
          </p:nvPr>
        </p:nvSpPr>
        <p:spPr/>
        <p:txBody>
          <a:bodyPr/>
          <a:lstStyle/>
          <a:p>
            <a:r>
              <a:rPr lang="en-US" dirty="0"/>
              <a:t>WHO ARE THE END USERS</a:t>
            </a:r>
          </a:p>
        </p:txBody>
      </p:sp>
      <p:sp>
        <p:nvSpPr>
          <p:cNvPr id="3" name="Content Placeholder 2">
            <a:extLst>
              <a:ext uri="{FF2B5EF4-FFF2-40B4-BE49-F238E27FC236}">
                <a16:creationId xmlns:a16="http://schemas.microsoft.com/office/drawing/2014/main" id="{844CD0DA-7AD4-B646-EC2E-6E0113946631}"/>
              </a:ext>
            </a:extLst>
          </p:cNvPr>
          <p:cNvSpPr>
            <a:spLocks noGrp="1"/>
          </p:cNvSpPr>
          <p:nvPr>
            <p:ph idx="1"/>
          </p:nvPr>
        </p:nvSpPr>
        <p:spPr/>
        <p:txBody>
          <a:bodyPr/>
          <a:lstStyle/>
          <a:p>
            <a:r>
              <a:rPr lang="en-US" dirty="0"/>
              <a:t>For your </a:t>
            </a:r>
            <a:r>
              <a:rPr lang="en-US" b="1" dirty="0"/>
              <a:t>Seasonal Agriculture Performance Analysis</a:t>
            </a:r>
            <a:r>
              <a:rPr lang="en-US" dirty="0"/>
              <a:t> project, the end users can be:</a:t>
            </a:r>
          </a:p>
          <a:p>
            <a:r>
              <a:rPr lang="en-US" dirty="0"/>
              <a:t> </a:t>
            </a:r>
            <a:r>
              <a:rPr lang="en-US" b="1" dirty="0"/>
              <a:t>Farmers</a:t>
            </a:r>
            <a:r>
              <a:rPr lang="en-US" dirty="0"/>
              <a:t> – to understand seasonal crop performance and resource usage. </a:t>
            </a:r>
          </a:p>
          <a:p>
            <a:r>
              <a:rPr lang="en-US" dirty="0"/>
              <a:t> </a:t>
            </a:r>
            <a:r>
              <a:rPr lang="en-US" b="1" dirty="0"/>
              <a:t>Agricultural Departments</a:t>
            </a:r>
            <a:r>
              <a:rPr lang="en-US" dirty="0"/>
              <a:t> – to support agricultural planning and decision-making. </a:t>
            </a:r>
          </a:p>
          <a:p>
            <a:r>
              <a:rPr lang="en-US" dirty="0"/>
              <a:t> </a:t>
            </a:r>
            <a:r>
              <a:rPr lang="en-US" b="1" dirty="0"/>
              <a:t>Agricultural Analysts &amp; Researchers</a:t>
            </a:r>
            <a:r>
              <a:rPr lang="en-US" dirty="0"/>
              <a:t> – to study seasonal trends and relationships. </a:t>
            </a:r>
          </a:p>
          <a:p>
            <a:r>
              <a:rPr lang="en-US" dirty="0"/>
              <a:t> </a:t>
            </a:r>
            <a:r>
              <a:rPr lang="en-US" b="1" dirty="0"/>
              <a:t>Agribusiness &amp; Agri-Companies</a:t>
            </a:r>
            <a:r>
              <a:rPr lang="en-US" dirty="0"/>
              <a:t> – to evaluate crop, production, and economic performance. </a:t>
            </a:r>
          </a:p>
          <a:p>
            <a:r>
              <a:rPr lang="en-US" dirty="0"/>
              <a:t> </a:t>
            </a:r>
            <a:r>
              <a:rPr lang="en-US" b="1" dirty="0"/>
              <a:t>Policy Makers</a:t>
            </a:r>
            <a:r>
              <a:rPr lang="en-US" dirty="0"/>
              <a:t> – to support data-driven agricultural policies and planning.</a:t>
            </a:r>
          </a:p>
          <a:p>
            <a:endParaRPr lang="en-US" dirty="0"/>
          </a:p>
        </p:txBody>
      </p:sp>
    </p:spTree>
    <p:extLst>
      <p:ext uri="{BB962C8B-B14F-4D97-AF65-F5344CB8AC3E}">
        <p14:creationId xmlns:p14="http://schemas.microsoft.com/office/powerpoint/2010/main" val="27597915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01E72-26BB-BA13-A84A-ECA8B0C69F3C}"/>
              </a:ext>
            </a:extLst>
          </p:cNvPr>
          <p:cNvSpPr>
            <a:spLocks noGrp="1"/>
          </p:cNvSpPr>
          <p:nvPr>
            <p:ph type="title"/>
          </p:nvPr>
        </p:nvSpPr>
        <p:spPr/>
        <p:txBody>
          <a:bodyPr/>
          <a:lstStyle/>
          <a:p>
            <a:r>
              <a:rPr lang="en-US" dirty="0"/>
              <a:t>Technology Used</a:t>
            </a:r>
          </a:p>
        </p:txBody>
      </p:sp>
      <p:sp>
        <p:nvSpPr>
          <p:cNvPr id="4" name="Rectangle 1">
            <a:extLst>
              <a:ext uri="{FF2B5EF4-FFF2-40B4-BE49-F238E27FC236}">
                <a16:creationId xmlns:a16="http://schemas.microsoft.com/office/drawing/2014/main" id="{F1A797C2-5E53-396D-3F7B-C6053D79C923}"/>
              </a:ext>
            </a:extLst>
          </p:cNvPr>
          <p:cNvSpPr>
            <a:spLocks noGrp="1" noChangeArrowheads="1"/>
          </p:cNvSpPr>
          <p:nvPr>
            <p:ph idx="1"/>
          </p:nvPr>
        </p:nvSpPr>
        <p:spPr bwMode="auto">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Python</a:t>
            </a:r>
            <a:r>
              <a:rPr kumimoji="0" lang="en-US" altLang="en-US" sz="1800" b="0" i="0" u="none" strike="noStrike" cap="none" normalizeH="0" baseline="0">
                <a:ln>
                  <a:noFill/>
                </a:ln>
                <a:solidFill>
                  <a:schemeClr val="tx1"/>
                </a:solidFill>
                <a:effectLst/>
                <a:latin typeface="Arial" panose="020B0604020202020204" pitchFamily="34" charset="0"/>
              </a:rPr>
              <a:t> – Main programming language for data analysis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Pandas</a:t>
            </a:r>
            <a:r>
              <a:rPr kumimoji="0" lang="en-US" altLang="en-US" sz="1800" b="0" i="0" u="none" strike="noStrike" cap="none" normalizeH="0" baseline="0">
                <a:ln>
                  <a:noFill/>
                </a:ln>
                <a:solidFill>
                  <a:schemeClr val="tx1"/>
                </a:solidFill>
                <a:effectLst/>
                <a:latin typeface="Arial" panose="020B0604020202020204" pitchFamily="34" charset="0"/>
              </a:rPr>
              <a:t> – Data cleaning, processing, and analysis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NumPy</a:t>
            </a:r>
            <a:r>
              <a:rPr kumimoji="0" lang="en-US" altLang="en-US" sz="1800" b="0" i="0" u="none" strike="noStrike" cap="none" normalizeH="0" baseline="0">
                <a:ln>
                  <a:noFill/>
                </a:ln>
                <a:solidFill>
                  <a:schemeClr val="tx1"/>
                </a:solidFill>
                <a:effectLst/>
                <a:latin typeface="Arial" panose="020B0604020202020204" pitchFamily="34" charset="0"/>
              </a:rPr>
              <a:t> – Numerical calculations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Matplotlib</a:t>
            </a:r>
            <a:r>
              <a:rPr kumimoji="0" lang="en-US" altLang="en-US" sz="1800" b="0" i="0" u="none" strike="noStrike" cap="none" normalizeH="0" baseline="0">
                <a:ln>
                  <a:noFill/>
                </a:ln>
                <a:solidFill>
                  <a:schemeClr val="tx1"/>
                </a:solidFill>
                <a:effectLst/>
                <a:latin typeface="Arial" panose="020B0604020202020204" pitchFamily="34" charset="0"/>
              </a:rPr>
              <a:t> – Data visualization and charts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Seaborn</a:t>
            </a:r>
            <a:r>
              <a:rPr kumimoji="0" lang="en-US" altLang="en-US" sz="1800" b="0" i="0" u="none" strike="noStrike" cap="none" normalizeH="0" baseline="0">
                <a:ln>
                  <a:noFill/>
                </a:ln>
                <a:solidFill>
                  <a:schemeClr val="tx1"/>
                </a:solidFill>
                <a:effectLst/>
                <a:latin typeface="Arial" panose="020B0604020202020204" pitchFamily="34" charset="0"/>
              </a:rPr>
              <a:t> – Statistical graphs and heatmaps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SciPy</a:t>
            </a:r>
            <a:r>
              <a:rPr kumimoji="0" lang="en-US" altLang="en-US" sz="1800" b="0" i="0" u="none" strike="noStrike" cap="none" normalizeH="0" baseline="0">
                <a:ln>
                  <a:noFill/>
                </a:ln>
                <a:solidFill>
                  <a:schemeClr val="tx1"/>
                </a:solidFill>
                <a:effectLst/>
                <a:latin typeface="Arial" panose="020B0604020202020204" pitchFamily="34" charset="0"/>
              </a:rPr>
              <a:t> – Statistical testing, including the Kruskal-Wallis test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Google Colab</a:t>
            </a:r>
            <a:r>
              <a:rPr kumimoji="0" lang="en-US" altLang="en-US" sz="1800" b="0" i="0" u="none" strike="noStrike" cap="none" normalizeH="0" baseline="0">
                <a:ln>
                  <a:noFill/>
                </a:ln>
                <a:solidFill>
                  <a:schemeClr val="tx1"/>
                </a:solidFill>
                <a:effectLst/>
                <a:latin typeface="Arial" panose="020B0604020202020204" pitchFamily="34" charset="0"/>
              </a:rPr>
              <a:t> – Development and execution environment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GitHub</a:t>
            </a:r>
            <a:r>
              <a:rPr kumimoji="0" lang="en-US" altLang="en-US" sz="1800" b="0" i="0" u="none" strike="noStrike" cap="none" normalizeH="0" baseline="0">
                <a:ln>
                  <a:noFill/>
                </a:ln>
                <a:solidFill>
                  <a:schemeClr val="tx1"/>
                </a:solidFill>
                <a:effectLst/>
                <a:latin typeface="Arial" panose="020B0604020202020204" pitchFamily="34" charset="0"/>
              </a:rPr>
              <a:t> – Project code, dataset, and notebook repository </a:t>
            </a:r>
          </a:p>
        </p:txBody>
      </p:sp>
    </p:spTree>
    <p:extLst>
      <p:ext uri="{BB962C8B-B14F-4D97-AF65-F5344CB8AC3E}">
        <p14:creationId xmlns:p14="http://schemas.microsoft.com/office/powerpoint/2010/main" val="31067098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EC407D-5C2A-C0C6-52AD-0C251126FAE9}"/>
              </a:ext>
            </a:extLst>
          </p:cNvPr>
          <p:cNvSpPr>
            <a:spLocks noGrp="1"/>
          </p:cNvSpPr>
          <p:nvPr>
            <p:ph type="title"/>
          </p:nvPr>
        </p:nvSpPr>
        <p:spPr>
          <a:xfrm>
            <a:off x="677334" y="609600"/>
            <a:ext cx="8596668" cy="783102"/>
          </a:xfrm>
        </p:spPr>
        <p:txBody>
          <a:bodyPr/>
          <a:lstStyle/>
          <a:p>
            <a:r>
              <a:rPr lang="en-GB" dirty="0"/>
              <a:t>RESULTS </a:t>
            </a:r>
            <a:endParaRPr lang="en-US" dirty="0"/>
          </a:p>
        </p:txBody>
      </p:sp>
      <p:sp>
        <p:nvSpPr>
          <p:cNvPr id="4" name="Rectangle 1">
            <a:extLst>
              <a:ext uri="{FF2B5EF4-FFF2-40B4-BE49-F238E27FC236}">
                <a16:creationId xmlns:a16="http://schemas.microsoft.com/office/drawing/2014/main" id="{F63A8967-928B-65CA-776E-09724221D192}"/>
              </a:ext>
            </a:extLst>
          </p:cNvPr>
          <p:cNvSpPr>
            <a:spLocks noGrp="1" noChangeArrowheads="1"/>
          </p:cNvSpPr>
          <p:nvPr>
            <p:ph idx="1"/>
          </p:nvPr>
        </p:nvSpPr>
        <p:spPr bwMode="auto">
          <a:xfrm>
            <a:off x="815926" y="1529766"/>
            <a:ext cx="11113476"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Seasonal Performance:</a:t>
            </a:r>
            <a:r>
              <a:rPr kumimoji="0" lang="en-US" altLang="en-US" sz="1800" b="0" i="0" u="none" strike="noStrike" cap="none" normalizeH="0" baseline="0" dirty="0">
                <a:ln>
                  <a:noFill/>
                </a:ln>
                <a:solidFill>
                  <a:schemeClr val="tx1"/>
                </a:solidFill>
                <a:effectLst/>
                <a:latin typeface="Arial" panose="020B0604020202020204" pitchFamily="34" charset="0"/>
              </a:rPr>
              <a:t> Kharif showed the highest average yield (</a:t>
            </a:r>
            <a:r>
              <a:rPr kumimoji="0" lang="en-US" altLang="en-US" sz="1800" b="1" i="0" u="none" strike="noStrike" cap="none" normalizeH="0" baseline="0" dirty="0">
                <a:ln>
                  <a:noFill/>
                </a:ln>
                <a:solidFill>
                  <a:schemeClr val="tx1"/>
                </a:solidFill>
                <a:effectLst/>
                <a:latin typeface="Arial" panose="020B0604020202020204" pitchFamily="34" charset="0"/>
              </a:rPr>
              <a:t>5.64 </a:t>
            </a:r>
            <a:r>
              <a:rPr kumimoji="0" lang="en-US" altLang="en-US" sz="1800" b="1" i="0" u="none" strike="noStrike" cap="none" normalizeH="0" baseline="0" dirty="0" err="1">
                <a:ln>
                  <a:noFill/>
                </a:ln>
                <a:solidFill>
                  <a:schemeClr val="tx1"/>
                </a:solidFill>
                <a:effectLst/>
                <a:latin typeface="Arial" panose="020B0604020202020204" pitchFamily="34" charset="0"/>
              </a:rPr>
              <a:t>tonnes</a:t>
            </a:r>
            <a:r>
              <a:rPr kumimoji="0" lang="en-US" altLang="en-US" sz="1800" b="1" i="0" u="none" strike="noStrike" cap="none" normalizeH="0" baseline="0" dirty="0">
                <a:ln>
                  <a:noFill/>
                </a:ln>
                <a:solidFill>
                  <a:schemeClr val="tx1"/>
                </a:solidFill>
                <a:effectLst/>
                <a:latin typeface="Arial" panose="020B0604020202020204" pitchFamily="34" charset="0"/>
              </a:rPr>
              <a:t>/ha</a:t>
            </a:r>
            <a:r>
              <a:rPr kumimoji="0" lang="en-US" altLang="en-US" sz="1800" b="0" i="0" u="none" strike="noStrike" cap="none" normalizeH="0" baseline="0" dirty="0">
                <a:ln>
                  <a:noFill/>
                </a:ln>
                <a:solidFill>
                  <a:schemeClr val="tx1"/>
                </a:solidFill>
                <a:effectLst/>
                <a:latin typeface="Arial" panose="020B0604020202020204" pitchFamily="34" charset="0"/>
              </a:rPr>
              <a:t>) compared with Rabi (</a:t>
            </a:r>
            <a:r>
              <a:rPr kumimoji="0" lang="en-US" altLang="en-US" sz="1800" b="1" i="0" u="none" strike="noStrike" cap="none" normalizeH="0" baseline="0" dirty="0">
                <a:ln>
                  <a:noFill/>
                </a:ln>
                <a:solidFill>
                  <a:schemeClr val="tx1"/>
                </a:solidFill>
                <a:effectLst/>
                <a:latin typeface="Arial" panose="020B0604020202020204" pitchFamily="34" charset="0"/>
              </a:rPr>
              <a:t>5.08</a:t>
            </a:r>
            <a:r>
              <a:rPr kumimoji="0" lang="en-US" altLang="en-US" sz="1800" b="0" i="0" u="none" strike="noStrike" cap="none" normalizeH="0" baseline="0" dirty="0">
                <a:ln>
                  <a:noFill/>
                </a:ln>
                <a:solidFill>
                  <a:schemeClr val="tx1"/>
                </a:solidFill>
                <a:effectLst/>
                <a:latin typeface="Arial" panose="020B0604020202020204" pitchFamily="34" charset="0"/>
              </a:rPr>
              <a:t>) and Zaid (</a:t>
            </a:r>
            <a:r>
              <a:rPr kumimoji="0" lang="en-US" altLang="en-US" sz="1800" b="1" i="0" u="none" strike="noStrike" cap="none" normalizeH="0" baseline="0" dirty="0">
                <a:ln>
                  <a:noFill/>
                </a:ln>
                <a:solidFill>
                  <a:schemeClr val="tx1"/>
                </a:solidFill>
                <a:effectLst/>
                <a:latin typeface="Arial" panose="020B0604020202020204" pitchFamily="34" charset="0"/>
              </a:rPr>
              <a:t>4.67</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Economic Performance:</a:t>
            </a:r>
            <a:r>
              <a:rPr kumimoji="0" lang="en-US" altLang="en-US" sz="1800" b="0" i="0" u="none" strike="noStrike" cap="none" normalizeH="0" baseline="0" dirty="0">
                <a:ln>
                  <a:noFill/>
                </a:ln>
                <a:solidFill>
                  <a:schemeClr val="tx1"/>
                </a:solidFill>
                <a:effectLst/>
                <a:latin typeface="Arial" panose="020B0604020202020204" pitchFamily="34" charset="0"/>
              </a:rPr>
              <a:t> Kharif recorded the highest average profit (</a:t>
            </a:r>
            <a:r>
              <a:rPr kumimoji="0" lang="en-US" altLang="en-US" sz="1800" b="1" i="0" u="none" strike="noStrike" cap="none" normalizeH="0" baseline="0" dirty="0">
                <a:ln>
                  <a:noFill/>
                </a:ln>
                <a:solidFill>
                  <a:schemeClr val="tx1"/>
                </a:solidFill>
                <a:effectLst/>
                <a:latin typeface="Arial" panose="020B0604020202020204" pitchFamily="34" charset="0"/>
              </a:rPr>
              <a:t>₹178,915</a:t>
            </a:r>
            <a:r>
              <a:rPr kumimoji="0" lang="en-US" altLang="en-US" sz="1800" b="0" i="0" u="none" strike="noStrike" cap="none" normalizeH="0" baseline="0" dirty="0">
                <a:ln>
                  <a:noFill/>
                </a:ln>
                <a:solidFill>
                  <a:schemeClr val="tx1"/>
                </a:solidFill>
                <a:effectLst/>
                <a:latin typeface="Arial" panose="020B0604020202020204" pitchFamily="34" charset="0"/>
              </a:rPr>
              <a:t>), while Zaid showed an average loss (</a:t>
            </a:r>
            <a:r>
              <a:rPr kumimoji="0" lang="en-US" altLang="en-US" sz="1800" b="1" i="0" u="none" strike="noStrike" cap="none" normalizeH="0" baseline="0" dirty="0">
                <a:ln>
                  <a:noFill/>
                </a:ln>
                <a:solidFill>
                  <a:schemeClr val="tx1"/>
                </a:solidFill>
                <a:effectLst/>
                <a:latin typeface="Arial" panose="020B0604020202020204" pitchFamily="34" charset="0"/>
              </a:rPr>
              <a:t>−₹24,805</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Water Efficiency:</a:t>
            </a:r>
            <a:r>
              <a:rPr kumimoji="0" lang="en-US" altLang="en-US" sz="1800" b="0" i="0" u="none" strike="noStrike" cap="none" normalizeH="0" baseline="0" dirty="0">
                <a:ln>
                  <a:noFill/>
                </a:ln>
                <a:solidFill>
                  <a:schemeClr val="tx1"/>
                </a:solidFill>
                <a:effectLst/>
                <a:latin typeface="Arial" panose="020B0604020202020204" pitchFamily="34" charset="0"/>
              </a:rPr>
              <a:t> Kharif had the highest average water efficiency (</a:t>
            </a:r>
            <a:r>
              <a:rPr kumimoji="0" lang="en-US" altLang="en-US" sz="1800" b="1" i="0" u="none" strike="noStrike" cap="none" normalizeH="0" baseline="0" dirty="0">
                <a:ln>
                  <a:noFill/>
                </a:ln>
                <a:solidFill>
                  <a:schemeClr val="tx1"/>
                </a:solidFill>
                <a:effectLst/>
                <a:latin typeface="Arial" panose="020B0604020202020204" pitchFamily="34" charset="0"/>
              </a:rPr>
              <a:t>5.89 </a:t>
            </a:r>
            <a:r>
              <a:rPr kumimoji="0" lang="en-US" altLang="en-US" sz="1800" b="1" i="0" u="none" strike="noStrike" cap="none" normalizeH="0" baseline="0" dirty="0" err="1">
                <a:ln>
                  <a:noFill/>
                </a:ln>
                <a:solidFill>
                  <a:schemeClr val="tx1"/>
                </a:solidFill>
                <a:effectLst/>
                <a:latin typeface="Arial" panose="020B0604020202020204" pitchFamily="34" charset="0"/>
              </a:rPr>
              <a:t>tonnes</a:t>
            </a:r>
            <a:r>
              <a:rPr kumimoji="0" lang="en-US" altLang="en-US" sz="1800" b="1" i="0" u="none" strike="noStrike" cap="none" normalizeH="0" baseline="0" dirty="0">
                <a:ln>
                  <a:noFill/>
                </a:ln>
                <a:solidFill>
                  <a:schemeClr val="tx1"/>
                </a:solidFill>
                <a:effectLst/>
                <a:latin typeface="Arial" panose="020B0604020202020204" pitchFamily="34" charset="0"/>
              </a:rPr>
              <a:t>/1000 m³</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Disease/Pest Risk:</a:t>
            </a:r>
            <a:r>
              <a:rPr kumimoji="0" lang="en-US" altLang="en-US" sz="1800" b="0" i="0" u="none" strike="noStrike" cap="none" normalizeH="0" baseline="0" dirty="0">
                <a:ln>
                  <a:noFill/>
                </a:ln>
                <a:solidFill>
                  <a:schemeClr val="tx1"/>
                </a:solidFill>
                <a:effectLst/>
                <a:latin typeface="Arial" panose="020B0604020202020204" pitchFamily="34" charset="0"/>
              </a:rPr>
              <a:t> Kharif had the highest average risk (</a:t>
            </a:r>
            <a:r>
              <a:rPr kumimoji="0" lang="en-US" altLang="en-US" sz="1800" b="1" i="0" u="none" strike="noStrike" cap="none" normalizeH="0" baseline="0" dirty="0">
                <a:ln>
                  <a:noFill/>
                </a:ln>
                <a:solidFill>
                  <a:schemeClr val="tx1"/>
                </a:solidFill>
                <a:effectLst/>
                <a:latin typeface="Arial" panose="020B0604020202020204" pitchFamily="34" charset="0"/>
              </a:rPr>
              <a:t>54.47%</a:t>
            </a:r>
            <a:r>
              <a:rPr kumimoji="0" lang="en-US" altLang="en-US" sz="1800" b="0" i="0" u="none" strike="noStrike" cap="none" normalizeH="0" baseline="0" dirty="0">
                <a:ln>
                  <a:noFill/>
                </a:ln>
                <a:solidFill>
                  <a:schemeClr val="tx1"/>
                </a:solidFill>
                <a:effectLst/>
                <a:latin typeface="Arial" panose="020B0604020202020204" pitchFamily="34" charset="0"/>
              </a:rPr>
              <a:t>), followed by Rabi (</a:t>
            </a:r>
            <a:r>
              <a:rPr kumimoji="0" lang="en-US" altLang="en-US" sz="1800" b="1" i="0" u="none" strike="noStrike" cap="none" normalizeH="0" baseline="0" dirty="0">
                <a:ln>
                  <a:noFill/>
                </a:ln>
                <a:solidFill>
                  <a:schemeClr val="tx1"/>
                </a:solidFill>
                <a:effectLst/>
                <a:latin typeface="Arial" panose="020B0604020202020204" pitchFamily="34" charset="0"/>
              </a:rPr>
              <a:t>40.48%</a:t>
            </a:r>
            <a:r>
              <a:rPr kumimoji="0" lang="en-US" altLang="en-US" sz="1800" b="0" i="0" u="none" strike="noStrike" cap="none" normalizeH="0" baseline="0" dirty="0">
                <a:ln>
                  <a:noFill/>
                </a:ln>
                <a:solidFill>
                  <a:schemeClr val="tx1"/>
                </a:solidFill>
                <a:effectLst/>
                <a:latin typeface="Arial" panose="020B0604020202020204" pitchFamily="34" charset="0"/>
              </a:rPr>
              <a:t>) and Zaid (</a:t>
            </a:r>
            <a:r>
              <a:rPr kumimoji="0" lang="en-US" altLang="en-US" sz="1800" b="1" i="0" u="none" strike="noStrike" cap="none" normalizeH="0" baseline="0" dirty="0">
                <a:ln>
                  <a:noFill/>
                </a:ln>
                <a:solidFill>
                  <a:schemeClr val="tx1"/>
                </a:solidFill>
                <a:effectLst/>
                <a:latin typeface="Arial" panose="020B0604020202020204" pitchFamily="34" charset="0"/>
              </a:rPr>
              <a:t>38.22%</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Crop Analysis:</a:t>
            </a:r>
            <a:r>
              <a:rPr kumimoji="0" lang="en-US" altLang="en-US" sz="1800" b="0" i="0" u="none" strike="noStrike" cap="none" normalizeH="0" baseline="0" dirty="0">
                <a:ln>
                  <a:noFill/>
                </a:ln>
                <a:solidFill>
                  <a:schemeClr val="tx1"/>
                </a:solidFill>
                <a:effectLst/>
                <a:latin typeface="Arial" panose="020B0604020202020204" pitchFamily="34" charset="0"/>
              </a:rPr>
              <a:t> Crop performance varied across seasons, with </a:t>
            </a:r>
            <a:r>
              <a:rPr kumimoji="0" lang="en-US" altLang="en-US" sz="1800" b="1" i="0" u="none" strike="noStrike" cap="none" normalizeH="0" baseline="0" dirty="0">
                <a:ln>
                  <a:noFill/>
                </a:ln>
                <a:solidFill>
                  <a:schemeClr val="tx1"/>
                </a:solidFill>
                <a:effectLst/>
                <a:latin typeface="Arial" panose="020B0604020202020204" pitchFamily="34" charset="0"/>
              </a:rPr>
              <a:t>Sugarcane having the highest yield values</a:t>
            </a:r>
            <a:r>
              <a:rPr kumimoji="0" lang="en-US" altLang="en-US" sz="1800" b="0" i="0" u="none" strike="noStrike" cap="none" normalizeH="0" baseline="0" dirty="0">
                <a:ln>
                  <a:noFill/>
                </a:ln>
                <a:solidFill>
                  <a:schemeClr val="tx1"/>
                </a:solidFill>
                <a:effectLst/>
                <a:latin typeface="Arial" panose="020B0604020202020204" pitchFamily="34" charset="0"/>
              </a:rPr>
              <a:t> in the dataset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Statistical Analysis:</a:t>
            </a:r>
            <a:r>
              <a:rPr kumimoji="0" lang="en-US" altLang="en-US" sz="1800" b="0" i="0" u="none" strike="noStrike" cap="none" normalizeH="0" baseline="0" dirty="0">
                <a:ln>
                  <a:noFill/>
                </a:ln>
                <a:solidFill>
                  <a:schemeClr val="tx1"/>
                </a:solidFill>
                <a:effectLst/>
                <a:latin typeface="Arial" panose="020B0604020202020204" pitchFamily="34" charset="0"/>
              </a:rPr>
              <a:t> The </a:t>
            </a:r>
            <a:r>
              <a:rPr kumimoji="0" lang="en-US" altLang="en-US" sz="1800" b="1" i="0" u="none" strike="noStrike" cap="none" normalizeH="0" baseline="0" dirty="0">
                <a:ln>
                  <a:noFill/>
                </a:ln>
                <a:solidFill>
                  <a:schemeClr val="tx1"/>
                </a:solidFill>
                <a:effectLst/>
                <a:latin typeface="Arial" panose="020B0604020202020204" pitchFamily="34" charset="0"/>
              </a:rPr>
              <a:t>Kruskal-Wallis test</a:t>
            </a:r>
            <a:r>
              <a:rPr kumimoji="0" lang="en-US" altLang="en-US" sz="1800" b="0" i="0" u="none" strike="noStrike" cap="none" normalizeH="0" baseline="0" dirty="0">
                <a:ln>
                  <a:noFill/>
                </a:ln>
                <a:solidFill>
                  <a:schemeClr val="tx1"/>
                </a:solidFill>
                <a:effectLst/>
                <a:latin typeface="Arial" panose="020B0604020202020204" pitchFamily="34" charset="0"/>
              </a:rPr>
              <a:t> showed a statistically significant difference in yield distributions across seasons (</a:t>
            </a:r>
            <a:r>
              <a:rPr kumimoji="0" lang="en-US" altLang="en-US" sz="1800" b="1" i="0" u="none" strike="noStrike" cap="none" normalizeH="0" baseline="0" dirty="0">
                <a:ln>
                  <a:noFill/>
                </a:ln>
                <a:solidFill>
                  <a:schemeClr val="tx1"/>
                </a:solidFill>
                <a:effectLst/>
                <a:latin typeface="Arial" panose="020B0604020202020204" pitchFamily="34" charset="0"/>
              </a:rPr>
              <a:t>p &lt; 0.05</a:t>
            </a: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9478219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083BBBC-8D61-F919-CADD-399F5BBE2F9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02631" y="1617786"/>
            <a:ext cx="8813566" cy="4424240"/>
          </a:xfrm>
        </p:spPr>
      </p:pic>
      <p:sp>
        <p:nvSpPr>
          <p:cNvPr id="9" name="Title 8">
            <a:extLst>
              <a:ext uri="{FF2B5EF4-FFF2-40B4-BE49-F238E27FC236}">
                <a16:creationId xmlns:a16="http://schemas.microsoft.com/office/drawing/2014/main" id="{32B27539-4FEC-BF61-8C5C-05F3A7DAA989}"/>
              </a:ext>
            </a:extLst>
          </p:cNvPr>
          <p:cNvSpPr>
            <a:spLocks noGrp="1"/>
          </p:cNvSpPr>
          <p:nvPr>
            <p:ph type="title"/>
          </p:nvPr>
        </p:nvSpPr>
        <p:spPr/>
        <p:txBody>
          <a:bodyPr/>
          <a:lstStyle/>
          <a:p>
            <a:r>
              <a:rPr lang="en-US" dirty="0"/>
              <a:t>GRAPH 1</a:t>
            </a:r>
          </a:p>
        </p:txBody>
      </p:sp>
    </p:spTree>
    <p:extLst>
      <p:ext uri="{BB962C8B-B14F-4D97-AF65-F5344CB8AC3E}">
        <p14:creationId xmlns:p14="http://schemas.microsoft.com/office/powerpoint/2010/main" val="3733694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4FA58A-5538-A0E2-E59F-F5ACEB00AF01}"/>
              </a:ext>
            </a:extLst>
          </p:cNvPr>
          <p:cNvSpPr>
            <a:spLocks noGrp="1"/>
          </p:cNvSpPr>
          <p:nvPr>
            <p:ph type="title"/>
          </p:nvPr>
        </p:nvSpPr>
        <p:spPr/>
        <p:txBody>
          <a:bodyPr/>
          <a:lstStyle/>
          <a:p>
            <a:r>
              <a:rPr lang="en-US" dirty="0"/>
              <a:t>GRAPH 2</a:t>
            </a:r>
          </a:p>
        </p:txBody>
      </p:sp>
      <p:pic>
        <p:nvPicPr>
          <p:cNvPr id="5" name="Content Placeholder 4">
            <a:extLst>
              <a:ext uri="{FF2B5EF4-FFF2-40B4-BE49-F238E27FC236}">
                <a16:creationId xmlns:a16="http://schemas.microsoft.com/office/drawing/2014/main" id="{A434992C-1C53-F07E-9E07-117DA971C8F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77334" y="2160588"/>
            <a:ext cx="9057509" cy="3881437"/>
          </a:xfrm>
        </p:spPr>
      </p:pic>
    </p:spTree>
    <p:extLst>
      <p:ext uri="{BB962C8B-B14F-4D97-AF65-F5344CB8AC3E}">
        <p14:creationId xmlns:p14="http://schemas.microsoft.com/office/powerpoint/2010/main" val="30643471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AED952-C743-76A8-45C2-130271E20D54}"/>
              </a:ext>
            </a:extLst>
          </p:cNvPr>
          <p:cNvSpPr>
            <a:spLocks noGrp="1"/>
          </p:cNvSpPr>
          <p:nvPr>
            <p:ph type="title"/>
          </p:nvPr>
        </p:nvSpPr>
        <p:spPr/>
        <p:txBody>
          <a:bodyPr/>
          <a:lstStyle/>
          <a:p>
            <a:r>
              <a:rPr lang="en-US" dirty="0"/>
              <a:t>GRAPH 3</a:t>
            </a:r>
          </a:p>
        </p:txBody>
      </p:sp>
      <p:pic>
        <p:nvPicPr>
          <p:cNvPr id="5" name="Content Placeholder 4">
            <a:extLst>
              <a:ext uri="{FF2B5EF4-FFF2-40B4-BE49-F238E27FC236}">
                <a16:creationId xmlns:a16="http://schemas.microsoft.com/office/drawing/2014/main" id="{D14D703F-EDE4-19FC-04BF-71973E24F67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22852" y="1477108"/>
            <a:ext cx="8038600" cy="4564917"/>
          </a:xfrm>
        </p:spPr>
      </p:pic>
    </p:spTree>
    <p:extLst>
      <p:ext uri="{BB962C8B-B14F-4D97-AF65-F5344CB8AC3E}">
        <p14:creationId xmlns:p14="http://schemas.microsoft.com/office/powerpoint/2010/main" val="41337116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2EFCD8-0F0E-A2B4-62E2-5B4BB17C4CB4}"/>
              </a:ext>
            </a:extLst>
          </p:cNvPr>
          <p:cNvSpPr>
            <a:spLocks noGrp="1"/>
          </p:cNvSpPr>
          <p:nvPr>
            <p:ph type="title"/>
          </p:nvPr>
        </p:nvSpPr>
        <p:spPr/>
        <p:txBody>
          <a:bodyPr/>
          <a:lstStyle/>
          <a:p>
            <a:r>
              <a:rPr lang="en-US" dirty="0"/>
              <a:t>GRAPH 4</a:t>
            </a:r>
          </a:p>
        </p:txBody>
      </p:sp>
      <p:pic>
        <p:nvPicPr>
          <p:cNvPr id="5" name="Content Placeholder 4">
            <a:extLst>
              <a:ext uri="{FF2B5EF4-FFF2-40B4-BE49-F238E27FC236}">
                <a16:creationId xmlns:a16="http://schemas.microsoft.com/office/drawing/2014/main" id="{C4B7DCB0-8A25-7AD4-AC00-4600E563B1E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02570" y="1561514"/>
            <a:ext cx="8143288" cy="4480511"/>
          </a:xfrm>
        </p:spPr>
      </p:pic>
    </p:spTree>
    <p:extLst>
      <p:ext uri="{BB962C8B-B14F-4D97-AF65-F5344CB8AC3E}">
        <p14:creationId xmlns:p14="http://schemas.microsoft.com/office/powerpoint/2010/main" val="40950059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8E9CA2-2A82-968E-E283-37F46C912E1B}"/>
              </a:ext>
            </a:extLst>
          </p:cNvPr>
          <p:cNvSpPr>
            <a:spLocks noGrp="1"/>
          </p:cNvSpPr>
          <p:nvPr>
            <p:ph type="title"/>
          </p:nvPr>
        </p:nvSpPr>
        <p:spPr/>
        <p:txBody>
          <a:bodyPr/>
          <a:lstStyle/>
          <a:p>
            <a:r>
              <a:rPr lang="en-US" dirty="0"/>
              <a:t>GRAPH 5</a:t>
            </a:r>
          </a:p>
        </p:txBody>
      </p:sp>
      <p:pic>
        <p:nvPicPr>
          <p:cNvPr id="5" name="Content Placeholder 4">
            <a:extLst>
              <a:ext uri="{FF2B5EF4-FFF2-40B4-BE49-F238E27FC236}">
                <a16:creationId xmlns:a16="http://schemas.microsoft.com/office/drawing/2014/main" id="{7A791D44-64A8-F5E8-A0C6-EF9EC0F329C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86650" y="1434906"/>
            <a:ext cx="6778737" cy="4607120"/>
          </a:xfrm>
        </p:spPr>
      </p:pic>
    </p:spTree>
    <p:extLst>
      <p:ext uri="{BB962C8B-B14F-4D97-AF65-F5344CB8AC3E}">
        <p14:creationId xmlns:p14="http://schemas.microsoft.com/office/powerpoint/2010/main" val="30153119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B6A026-FFBC-2BAC-14FB-90460BE67EE9}"/>
              </a:ext>
            </a:extLst>
          </p:cNvPr>
          <p:cNvSpPr>
            <a:spLocks noGrp="1"/>
          </p:cNvSpPr>
          <p:nvPr>
            <p:ph type="title"/>
          </p:nvPr>
        </p:nvSpPr>
        <p:spPr/>
        <p:txBody>
          <a:bodyPr/>
          <a:lstStyle/>
          <a:p>
            <a:r>
              <a:rPr lang="en-US" dirty="0"/>
              <a:t>GRAPH 6</a:t>
            </a:r>
          </a:p>
        </p:txBody>
      </p:sp>
      <p:pic>
        <p:nvPicPr>
          <p:cNvPr id="5" name="Content Placeholder 4">
            <a:extLst>
              <a:ext uri="{FF2B5EF4-FFF2-40B4-BE49-F238E27FC236}">
                <a16:creationId xmlns:a16="http://schemas.microsoft.com/office/drawing/2014/main" id="{F8169EAD-5620-4F29-D938-AE76F460613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89540" y="1603717"/>
            <a:ext cx="7184461" cy="4302829"/>
          </a:xfrm>
        </p:spPr>
      </p:pic>
    </p:spTree>
    <p:extLst>
      <p:ext uri="{BB962C8B-B14F-4D97-AF65-F5344CB8AC3E}">
        <p14:creationId xmlns:p14="http://schemas.microsoft.com/office/powerpoint/2010/main" val="29464688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5B0D7E-553A-BCD0-06D0-90786519275A}"/>
              </a:ext>
            </a:extLst>
          </p:cNvPr>
          <p:cNvSpPr>
            <a:spLocks noGrp="1"/>
          </p:cNvSpPr>
          <p:nvPr>
            <p:ph type="title"/>
          </p:nvPr>
        </p:nvSpPr>
        <p:spPr/>
        <p:txBody>
          <a:bodyPr/>
          <a:lstStyle/>
          <a:p>
            <a:r>
              <a:rPr lang="en-IN" dirty="0"/>
              <a:t>Future scope</a:t>
            </a:r>
            <a:endParaRPr lang="en-US" dirty="0"/>
          </a:p>
        </p:txBody>
      </p:sp>
      <p:sp>
        <p:nvSpPr>
          <p:cNvPr id="4" name="Rectangle 1">
            <a:extLst>
              <a:ext uri="{FF2B5EF4-FFF2-40B4-BE49-F238E27FC236}">
                <a16:creationId xmlns:a16="http://schemas.microsoft.com/office/drawing/2014/main" id="{99022BEF-83FA-24A8-BB3C-CACF379CA16F}"/>
              </a:ext>
            </a:extLst>
          </p:cNvPr>
          <p:cNvSpPr>
            <a:spLocks noGrp="1" noChangeArrowheads="1"/>
          </p:cNvSpPr>
          <p:nvPr>
            <p:ph idx="1"/>
          </p:nvPr>
        </p:nvSpPr>
        <p:spPr bwMode="auto">
          <a:xfrm>
            <a:off x="677334" y="2230858"/>
            <a:ext cx="8100906"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Crop Yield Prediction</a:t>
            </a:r>
            <a:r>
              <a:rPr kumimoji="0" lang="en-US" altLang="en-US" sz="1800" b="0" i="0" u="none" strike="noStrike" cap="none" normalizeH="0" baseline="0" dirty="0">
                <a:ln>
                  <a:noFill/>
                </a:ln>
                <a:solidFill>
                  <a:schemeClr val="tx1"/>
                </a:solidFill>
                <a:effectLst/>
                <a:latin typeface="Arial" panose="020B0604020202020204" pitchFamily="34" charset="0"/>
              </a:rPr>
              <a:t> – Use machine learning to predict future crop yields.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Weather Integration</a:t>
            </a:r>
            <a:r>
              <a:rPr kumimoji="0" lang="en-US" altLang="en-US" sz="1800" b="0" i="0" u="none" strike="noStrike" cap="none" normalizeH="0" baseline="0" dirty="0">
                <a:ln>
                  <a:noFill/>
                </a:ln>
                <a:solidFill>
                  <a:schemeClr val="tx1"/>
                </a:solidFill>
                <a:effectLst/>
                <a:latin typeface="Arial" panose="020B0604020202020204" pitchFamily="34" charset="0"/>
              </a:rPr>
              <a:t> – Include real-time weather and rainfall data.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Advanced Regional Analysis</a:t>
            </a:r>
            <a:r>
              <a:rPr kumimoji="0" lang="en-US" altLang="en-US" sz="1800" b="0" i="0" u="none" strike="noStrike" cap="none" normalizeH="0" baseline="0" dirty="0">
                <a:ln>
                  <a:noFill/>
                </a:ln>
                <a:solidFill>
                  <a:schemeClr val="tx1"/>
                </a:solidFill>
                <a:effectLst/>
                <a:latin typeface="Arial" panose="020B0604020202020204" pitchFamily="34" charset="0"/>
              </a:rPr>
              <a:t> – Compare agricultural performance across more regions.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Smart Resource Management</a:t>
            </a:r>
            <a:r>
              <a:rPr kumimoji="0" lang="en-US" altLang="en-US" sz="1800" b="0" i="0" u="none" strike="noStrike" cap="none" normalizeH="0" baseline="0" dirty="0">
                <a:ln>
                  <a:noFill/>
                </a:ln>
                <a:solidFill>
                  <a:schemeClr val="tx1"/>
                </a:solidFill>
                <a:effectLst/>
                <a:latin typeface="Arial" panose="020B0604020202020204" pitchFamily="34" charset="0"/>
              </a:rPr>
              <a:t> – Optimize water, fertilizer, and pesticide usage.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Early Risk Detection</a:t>
            </a:r>
            <a:r>
              <a:rPr kumimoji="0" lang="en-US" altLang="en-US" sz="1800" b="0" i="0" u="none" strike="noStrike" cap="none" normalizeH="0" baseline="0" dirty="0">
                <a:ln>
                  <a:noFill/>
                </a:ln>
                <a:solidFill>
                  <a:schemeClr val="tx1"/>
                </a:solidFill>
                <a:effectLst/>
                <a:latin typeface="Arial" panose="020B0604020202020204" pitchFamily="34" charset="0"/>
              </a:rPr>
              <a:t> – Predict disease and pest risks in advance. </a:t>
            </a:r>
          </a:p>
        </p:txBody>
      </p:sp>
    </p:spTree>
    <p:extLst>
      <p:ext uri="{BB962C8B-B14F-4D97-AF65-F5344CB8AC3E}">
        <p14:creationId xmlns:p14="http://schemas.microsoft.com/office/powerpoint/2010/main" val="23004671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73E85C-F717-2781-86A0-E23FE8C12F97}"/>
              </a:ext>
            </a:extLst>
          </p:cNvPr>
          <p:cNvSpPr>
            <a:spLocks noGrp="1"/>
          </p:cNvSpPr>
          <p:nvPr>
            <p:ph type="title"/>
          </p:nvPr>
        </p:nvSpPr>
        <p:spPr/>
        <p:txBody>
          <a:bodyPr/>
          <a:lstStyle/>
          <a:p>
            <a:r>
              <a:rPr lang="en-US" dirty="0"/>
              <a:t>GETHUB LINK</a:t>
            </a:r>
          </a:p>
        </p:txBody>
      </p:sp>
      <p:sp>
        <p:nvSpPr>
          <p:cNvPr id="3" name="Content Placeholder 2">
            <a:extLst>
              <a:ext uri="{FF2B5EF4-FFF2-40B4-BE49-F238E27FC236}">
                <a16:creationId xmlns:a16="http://schemas.microsoft.com/office/drawing/2014/main" id="{C119E16E-60BC-34BC-8021-23212FC6379F}"/>
              </a:ext>
            </a:extLst>
          </p:cNvPr>
          <p:cNvSpPr>
            <a:spLocks noGrp="1"/>
          </p:cNvSpPr>
          <p:nvPr>
            <p:ph idx="1"/>
          </p:nvPr>
        </p:nvSpPr>
        <p:spPr>
          <a:xfrm>
            <a:off x="677334" y="1930401"/>
            <a:ext cx="8596668" cy="4110962"/>
          </a:xfrm>
        </p:spPr>
        <p:txBody>
          <a:bodyPr>
            <a:normAutofit/>
          </a:bodyPr>
          <a:lstStyle/>
          <a:p>
            <a:r>
              <a:rPr lang="en-US" sz="2800" dirty="0"/>
              <a:t>https://github.com/workyashu14-cyber/seasonal-agriculture-performance-analysis.git</a:t>
            </a:r>
          </a:p>
        </p:txBody>
      </p:sp>
    </p:spTree>
    <p:extLst>
      <p:ext uri="{BB962C8B-B14F-4D97-AF65-F5344CB8AC3E}">
        <p14:creationId xmlns:p14="http://schemas.microsoft.com/office/powerpoint/2010/main" val="26267007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16F170-6BCE-39AD-C816-51B040509BDE}"/>
              </a:ext>
            </a:extLst>
          </p:cNvPr>
          <p:cNvSpPr>
            <a:spLocks noGrp="1"/>
          </p:cNvSpPr>
          <p:nvPr>
            <p:ph type="title"/>
          </p:nvPr>
        </p:nvSpPr>
        <p:spPr/>
        <p:txBody>
          <a:bodyPr/>
          <a:lstStyle/>
          <a:p>
            <a:r>
              <a:rPr lang="en-IN" dirty="0"/>
              <a:t>VOIS Course completion certificate - </a:t>
            </a:r>
            <a:br>
              <a:rPr lang="en-IN" dirty="0"/>
            </a:br>
            <a:r>
              <a:rPr lang="en-IN" dirty="0"/>
              <a:t>Course name- Data Visualization </a:t>
            </a:r>
            <a:endParaRPr lang="en-US" dirty="0"/>
          </a:p>
        </p:txBody>
      </p:sp>
      <p:pic>
        <p:nvPicPr>
          <p:cNvPr id="5" name="Content Placeholder 4">
            <a:extLst>
              <a:ext uri="{FF2B5EF4-FFF2-40B4-BE49-F238E27FC236}">
                <a16:creationId xmlns:a16="http://schemas.microsoft.com/office/drawing/2014/main" id="{FA4C505F-47C1-1A83-FA65-354F8D71624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66092" y="2160588"/>
            <a:ext cx="8426548" cy="4087812"/>
          </a:xfrm>
        </p:spPr>
      </p:pic>
    </p:spTree>
    <p:extLst>
      <p:ext uri="{BB962C8B-B14F-4D97-AF65-F5344CB8AC3E}">
        <p14:creationId xmlns:p14="http://schemas.microsoft.com/office/powerpoint/2010/main" val="14348860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D20CE5F-EB78-8A88-B373-523E1150EA30}"/>
              </a:ext>
            </a:extLst>
          </p:cNvPr>
          <p:cNvSpPr>
            <a:spLocks noGrp="1"/>
          </p:cNvSpPr>
          <p:nvPr>
            <p:ph idx="1"/>
          </p:nvPr>
        </p:nvSpPr>
        <p:spPr>
          <a:xfrm>
            <a:off x="677334" y="787791"/>
            <a:ext cx="8596668" cy="5253571"/>
          </a:xfrm>
        </p:spPr>
        <p:txBody>
          <a:bodyPr/>
          <a:lstStyle/>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lgn="ctr">
              <a:buNone/>
            </a:pPr>
            <a:r>
              <a:rPr lang="en-US" sz="6600" dirty="0">
                <a:solidFill>
                  <a:schemeClr val="accent1">
                    <a:lumMod val="60000"/>
                    <a:lumOff val="40000"/>
                  </a:schemeClr>
                </a:solidFill>
              </a:rPr>
              <a:t>THANK YOU</a:t>
            </a:r>
          </a:p>
        </p:txBody>
      </p:sp>
    </p:spTree>
    <p:extLst>
      <p:ext uri="{BB962C8B-B14F-4D97-AF65-F5344CB8AC3E}">
        <p14:creationId xmlns:p14="http://schemas.microsoft.com/office/powerpoint/2010/main" val="1080510527"/>
      </p:ext>
    </p:extLst>
  </p:cSld>
  <p:clrMapOvr>
    <a:masterClrMapping/>
  </p:clrMapOvr>
</p:sld>
</file>

<file path=ppt/theme/theme1.xml><?xml version="1.0" encoding="utf-8"?>
<a:theme xmlns:a="http://schemas.openxmlformats.org/drawingml/2006/main" name="Facet">
  <a:themeElements>
    <a:clrScheme name="Violet">
      <a:dk1>
        <a:sysClr val="windowText" lastClr="000000"/>
      </a:dk1>
      <a:lt1>
        <a:sysClr val="window" lastClr="FFFFFF"/>
      </a:lt1>
      <a:dk2>
        <a:srgbClr val="373545"/>
      </a:dk2>
      <a:lt2>
        <a:srgbClr val="DCD8DC"/>
      </a:lt2>
      <a:accent1>
        <a:srgbClr val="AD84C6"/>
      </a:accent1>
      <a:accent2>
        <a:srgbClr val="8784C7"/>
      </a:accent2>
      <a:accent3>
        <a:srgbClr val="5D739A"/>
      </a:accent3>
      <a:accent4>
        <a:srgbClr val="6997AF"/>
      </a:accent4>
      <a:accent5>
        <a:srgbClr val="84ACB6"/>
      </a:accent5>
      <a:accent6>
        <a:srgbClr val="6F8183"/>
      </a:accent6>
      <a:hlink>
        <a:srgbClr val="69A020"/>
      </a:hlink>
      <a:folHlink>
        <a:srgbClr val="8C8C8C"/>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8C59B386-999D-4CB6-B907-9F3997C027CC}"/>
    </a:ext>
  </a:extLst>
</a:theme>
</file>

<file path=docProps/app.xml><?xml version="1.0" encoding="utf-8"?>
<Properties xmlns="http://schemas.openxmlformats.org/officeDocument/2006/extended-properties" xmlns:vt="http://schemas.openxmlformats.org/officeDocument/2006/docPropsVTypes">
  <Template>Facet</Template>
  <TotalTime>62</TotalTime>
  <Words>611</Words>
  <Application>Microsoft Office PowerPoint</Application>
  <PresentationFormat>Widescreen</PresentationFormat>
  <Paragraphs>64</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Trebuchet MS</vt:lpstr>
      <vt:lpstr>Wingdings 3</vt:lpstr>
      <vt:lpstr>Facet</vt:lpstr>
      <vt:lpstr>Project Title -</vt:lpstr>
      <vt:lpstr>PROBLEM  STATEMENT</vt:lpstr>
      <vt:lpstr>Project Description</vt:lpstr>
      <vt:lpstr>WHO ARE THE END USERS</vt:lpstr>
      <vt:lpstr>Technology Used</vt:lpstr>
      <vt:lpstr>RESULTS </vt:lpstr>
      <vt:lpstr>GRAPH 1</vt:lpstr>
      <vt:lpstr>GRAPH 2</vt:lpstr>
      <vt:lpstr>GRAPH 3</vt:lpstr>
      <vt:lpstr>GRAPH 4</vt:lpstr>
      <vt:lpstr>GRAPH 5</vt:lpstr>
      <vt:lpstr>GRAPH 6</vt:lpstr>
      <vt:lpstr>Future scope</vt:lpstr>
      <vt:lpstr>GETHUB LINK</vt:lpstr>
      <vt:lpstr>VOIS Course completion certificate -  Course name- Data Visualization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Sangeeta Upadhyay</dc:creator>
  <cp:lastModifiedBy>Sangeeta Upadhyay</cp:lastModifiedBy>
  <cp:revision>1</cp:revision>
  <dcterms:created xsi:type="dcterms:W3CDTF">2026-09-08T17:59:15Z</dcterms:created>
  <dcterms:modified xsi:type="dcterms:W3CDTF">2026-09-08T19:02:05Z</dcterms:modified>
</cp:coreProperties>
</file>